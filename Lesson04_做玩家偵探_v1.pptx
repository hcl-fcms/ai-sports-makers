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 1 分鐘：今日唔係要新遊戲，而係要做偵探。目標係用證據講出玩家喺邊一步遇到問題。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啟動 8 分鐘：講清四件事。強調今日唔會改遊戲，只會搵問題。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分鐘：重玩第 1 堂閃避遊戲一次。學生先各自寫預測，不得先討論。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示範 12 分鐘：教師示範兩種寫法，請學生講出分別。強調唔可以評價同學。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分鐘尾段：用三個可能原因說明推論與事實之別。學生要為自己觀察寫一個待核實原因。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小組製作 35 分鐘：一半時間輪流試玩，一半用紙本情境對照。無裝置時標明「模擬」，不可當真實測試。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互測 10 分鐘＋Exit 5 分鐘：兩組交換觀察表，對方只憑紀錄指出問題喺邊一步；講唔明即改寫。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Microsoft JhengHei"/>
                <a:ea typeface="Microsoft JhengHei"/>
              </a:rPr>
              <a:t>AI 運動創客隊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DDEEFA"/>
                </a:solidFill>
                <a:latin typeface="Microsoft JhengHei"/>
                <a:ea typeface="Microsoft JhengHei"/>
              </a:rPr>
              <a:t>第 4 堂｜做玩家偵探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28C28"/>
                </a:solidFill>
                <a:latin typeface="Microsoft JhengHei"/>
                <a:ea typeface="Microsoft JhengHei"/>
              </a:rPr>
              <a:t>找出真正的問題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先估 → 再試 → 用證據講清楚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6CA8"/>
                </a:solidFill>
                <a:latin typeface="Microsoft JhengHei"/>
                <a:ea typeface="Microsoft JhengHei"/>
              </a:rPr>
              <a:t>今日你要做甚麼？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6CA8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4023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223A4E"/>
                </a:solidFill>
                <a:latin typeface="Microsoft JhengHei"/>
                <a:ea typeface="Microsoft JhengHei"/>
              </a:rPr>
              <a:t>重玩閃避遊戲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47088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A3A3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920240"/>
            <a:ext cx="4023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223A4E"/>
                </a:solidFill>
                <a:latin typeface="Microsoft JhengHei"/>
                <a:ea typeface="Microsoft JhengHei"/>
              </a:rPr>
              <a:t>寫低你估玩家會卡住嘅位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52120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64408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28C28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37560"/>
            <a:ext cx="4023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223A4E"/>
                </a:solidFill>
                <a:latin typeface="Microsoft JhengHei"/>
                <a:ea typeface="Microsoft JhengHei"/>
              </a:rPr>
              <a:t>輪流做玩家同觀察員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63240"/>
            <a:ext cx="52120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64408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6CA8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337560"/>
            <a:ext cx="4023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223A4E"/>
                </a:solidFill>
                <a:latin typeface="Microsoft JhengHei"/>
                <a:ea typeface="Microsoft JhengHei"/>
              </a:rPr>
              <a:t>用證據講清楚問題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10881360" cy="12344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28C28"/>
                </a:solidFill>
                <a:latin typeface="Microsoft JhengHei"/>
                <a:ea typeface="Microsoft JhengHei"/>
              </a:rPr>
              <a:t>大問題：「唔好玩」係感覺，「卡住」係可以觀察嘅事實。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635508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7A8C99"/>
                </a:solidFill>
                <a:latin typeface="Microsoft JhengHei"/>
                <a:ea typeface="Microsoft JhengHei"/>
              </a:rPr>
              <a:t>AI 是小助手，學生才是設計師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A3A3"/>
                </a:solidFill>
                <a:latin typeface="Microsoft JhengHei"/>
                <a:ea typeface="Microsoft JhengHei"/>
              </a:rPr>
              <a:t>先估，再試，唔好只講感覺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23A4E"/>
                </a:solidFill>
                <a:latin typeface="Microsoft JhengHei"/>
                <a:ea typeface="Microsoft JhengHei"/>
              </a:rPr>
              <a:t>① 我估玩家會喺邊一步卡住？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A8C99"/>
                </a:solidFill>
                <a:latin typeface="Microsoft JhengHei"/>
                <a:ea typeface="Microsoft JhengHei"/>
              </a:rPr>
              <a:t>例：佢可能搵唔到開始鍵。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1371600"/>
          </a:xfrm>
          <a:prstGeom prst="roundRect">
            <a:avLst/>
          </a:prstGeom>
          <a:solidFill>
            <a:srgbClr val="E8F6F6"/>
          </a:solidFill>
          <a:ln w="2540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A3A3"/>
                </a:solidFill>
                <a:latin typeface="Microsoft JhengHei"/>
                <a:ea typeface="Microsoft JhengHei"/>
              </a:rPr>
              <a:t>先寫低預測，之後先知自己估得準唔準。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7A8C99"/>
                </a:solidFill>
                <a:latin typeface="Microsoft JhengHei"/>
                <a:ea typeface="Microsoft JhengHei"/>
              </a:rPr>
              <a:t>每人先寫一句，唔可以空白交俾組員。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635508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7A8C99"/>
                </a:solidFill>
                <a:latin typeface="Microsoft JhengHei"/>
                <a:ea typeface="Microsoft JhengHei"/>
              </a:rPr>
              <a:t>AI 是小助手，學生才是設計師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28C28"/>
                </a:solidFill>
                <a:latin typeface="Microsoft JhengHei"/>
                <a:ea typeface="Microsoft JhengHei"/>
              </a:rPr>
              <a:t>觀察：只描述行為，唔貼標籤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57800" cy="228600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28C28"/>
                </a:solidFill>
                <a:latin typeface="Microsoft JhengHei"/>
                <a:ea typeface="Microsoft JhengHei"/>
              </a:rPr>
              <a:t>✗ 唔好咁寫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3A4E"/>
                </a:solidFill>
                <a:latin typeface="Microsoft JhengHei"/>
                <a:ea typeface="Microsoft JhengHei"/>
              </a:rPr>
              <a:t>「佢反應慢」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3A4E"/>
                </a:solidFill>
                <a:latin typeface="Microsoft JhengHei"/>
                <a:ea typeface="Microsoft JhengHei"/>
              </a:rPr>
              <a:t>「佢唔識玩」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257800" cy="2286000"/>
          </a:xfrm>
          <a:prstGeom prst="roundRect">
            <a:avLst/>
          </a:prstGeom>
          <a:solidFill>
            <a:srgbClr val="E8F6F6"/>
          </a:solidFill>
          <a:ln w="2540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A3A3"/>
                </a:solidFill>
                <a:latin typeface="Microsoft JhengHei"/>
                <a:ea typeface="Microsoft JhengHei"/>
              </a:rPr>
              <a:t>✓ 可以咁寫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3A4E"/>
                </a:solidFill>
                <a:latin typeface="Microsoft JhengHei"/>
                <a:ea typeface="Microsoft JhengHei"/>
              </a:rPr>
              <a:t>「佢望住畫面 5 秒，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3A4E"/>
                </a:solidFill>
                <a:latin typeface="Microsoft JhengHei"/>
                <a:ea typeface="Microsoft JhengHei"/>
              </a:rPr>
              <a:t>未按任何鍵」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108813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B6CA8"/>
                </a:solidFill>
                <a:latin typeface="Microsoft JhengHei"/>
                <a:ea typeface="Microsoft JhengHei"/>
              </a:rPr>
              <a:t>看到甚麼？點知係問題？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635508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7A8C99"/>
                </a:solidFill>
                <a:latin typeface="Microsoft JhengHei"/>
                <a:ea typeface="Microsoft JhengHei"/>
              </a:rPr>
              <a:t>AI 是小助手，學生才是設計師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6CA8"/>
                </a:solidFill>
                <a:latin typeface="Microsoft JhengHei"/>
                <a:ea typeface="Microsoft JhengHei"/>
              </a:rPr>
              <a:t>同一個問題，可能唔止一個原因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A3A3"/>
                </a:solidFill>
                <a:latin typeface="Microsoft JhengHei"/>
                <a:ea typeface="Microsoft JhengHei"/>
              </a:rPr>
              <a:t>原因一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3A4E"/>
                </a:solidFill>
                <a:latin typeface="Microsoft JhengHei"/>
                <a:ea typeface="Microsoft JhengHei"/>
              </a:rPr>
              <a:t>未搵到開始鍵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28C28"/>
                </a:solidFill>
                <a:latin typeface="Microsoft JhengHei"/>
                <a:ea typeface="Microsoft JhengHei"/>
              </a:rPr>
              <a:t>原因二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3A4E"/>
                </a:solidFill>
                <a:latin typeface="Microsoft JhengHei"/>
                <a:ea typeface="Microsoft JhengHei"/>
              </a:rPr>
              <a:t>畫面太亂，唔知望邊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69164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9202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6CA8"/>
                </a:solidFill>
                <a:latin typeface="Microsoft JhengHei"/>
                <a:ea typeface="Microsoft JhengHei"/>
              </a:rPr>
              <a:t>原因三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56032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3A4E"/>
                </a:solidFill>
                <a:latin typeface="Microsoft JhengHei"/>
                <a:ea typeface="Microsoft JhengHei"/>
              </a:rPr>
              <a:t>規則未講清楚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881360" cy="1371600"/>
          </a:xfrm>
          <a:prstGeom prst="roundRect">
            <a:avLst/>
          </a:prstGeom>
          <a:solidFill>
            <a:srgbClr val="E8F2FB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1B6CA8"/>
                </a:solidFill>
                <a:latin typeface="Microsoft JhengHei"/>
                <a:ea typeface="Microsoft JhengHei"/>
              </a:rPr>
              <a:t>觀察唔等於原因：要寫「待核實」，唔好當答案。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635508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7A8C99"/>
                </a:solidFill>
                <a:latin typeface="Microsoft JhengHei"/>
                <a:ea typeface="Microsoft JhengHei"/>
              </a:rPr>
              <a:t>AI 是小助手，學生才是設計師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A3A3"/>
                </a:solidFill>
                <a:latin typeface="Microsoft JhengHei"/>
                <a:ea typeface="Microsoft JhengHei"/>
              </a:rPr>
              <a:t>小組任務：玩家觀察表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223A4E"/>
                </a:solidFill>
                <a:latin typeface="Microsoft JhengHei"/>
                <a:ea typeface="Microsoft JhengHei"/>
              </a:rPr>
              <a:t>每組一張；每人輪一次玩家、一次觀察員。只記四欄：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060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6CA8"/>
                </a:solidFill>
                <a:latin typeface="Microsoft JhengHei"/>
                <a:ea typeface="Microsoft JhengHei"/>
              </a:rPr>
              <a:t>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23A4E"/>
                </a:solidFill>
                <a:latin typeface="Microsoft JhengHei"/>
                <a:ea typeface="Microsoft JhengHei"/>
              </a:rPr>
              <a:t>玩家做到邊一步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48840"/>
            <a:ext cx="26060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3317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A3A3"/>
                </a:solidFill>
                <a:latin typeface="Microsoft JhengHei"/>
                <a:ea typeface="Microsoft JhengHei"/>
              </a:rPr>
              <a:t>預期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23A4E"/>
                </a:solidFill>
                <a:latin typeface="Microsoft JhengHei"/>
                <a:ea typeface="Microsoft JhengHei"/>
              </a:rPr>
              <a:t>以為會發生咩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26060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28C28"/>
                </a:solidFill>
                <a:latin typeface="Microsoft JhengHei"/>
                <a:ea typeface="Microsoft JhengHei"/>
              </a:rPr>
              <a:t>實際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23A4E"/>
                </a:solidFill>
                <a:latin typeface="Microsoft JhengHei"/>
                <a:ea typeface="Microsoft JhengHei"/>
              </a:rPr>
              <a:t>真正發生咩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2148840"/>
            <a:ext cx="26060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23317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6CA8"/>
                </a:solidFill>
                <a:latin typeface="Microsoft JhengHei"/>
                <a:ea typeface="Microsoft JhengHei"/>
              </a:rPr>
              <a:t>待核實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92608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23A4E"/>
                </a:solidFill>
                <a:latin typeface="Microsoft JhengHei"/>
                <a:ea typeface="Microsoft JhengHei"/>
              </a:rPr>
              <a:t>可能原因＋下次怎試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80560"/>
            <a:ext cx="5257800" cy="1280160"/>
          </a:xfrm>
          <a:prstGeom prst="roundRect">
            <a:avLst/>
          </a:prstGeom>
          <a:solidFill>
            <a:srgbClr val="E8F6F6"/>
          </a:solidFill>
          <a:ln w="2540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FA3A3"/>
                </a:solidFill>
                <a:latin typeface="Microsoft JhengHei"/>
                <a:ea typeface="Microsoft JhengHei"/>
              </a:rPr>
              <a:t>核心：完成四欄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480560"/>
            <a:ext cx="5257800" cy="12801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28C28"/>
                </a:solidFill>
                <a:latin typeface="Microsoft JhengHei"/>
                <a:ea typeface="Microsoft JhengHei"/>
              </a:rPr>
              <a:t>挑戰：提出第二個</a:t>
            </a:r>
          </a:p>
          <a:p>
            <a:pPr algn="l">
              <a:lnSpc>
                <a:spcPct val="115000"/>
              </a:lnSpc>
            </a:pPr>
            <a:r>
              <a:rPr sz="2000" b="1">
                <a:solidFill>
                  <a:srgbClr val="F28C28"/>
                </a:solidFill>
                <a:latin typeface="Microsoft JhengHei"/>
                <a:ea typeface="Microsoft JhengHei"/>
              </a:rPr>
              <a:t>可能原因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7A8C99"/>
                </a:solidFill>
                <a:latin typeface="Microsoft JhengHei"/>
                <a:ea typeface="Microsoft JhengHei"/>
              </a:rPr>
              <a:t>不記姓名、個人成績或身體表現。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635508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7A8C99"/>
                </a:solidFill>
                <a:latin typeface="Microsoft JhengHei"/>
                <a:ea typeface="Microsoft JhengHei"/>
              </a:rPr>
              <a:t>AI 是小助手，學生才是設計師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6CA8"/>
                </a:solidFill>
                <a:latin typeface="Microsoft JhengHei"/>
                <a:ea typeface="Microsoft JhengHei"/>
              </a:rPr>
              <a:t>離堂前，完成呢一句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3A4E"/>
                </a:solidFill>
                <a:latin typeface="Microsoft JhengHei"/>
                <a:ea typeface="Microsoft JhengHei"/>
              </a:rPr>
              <a:t>我看到＿＿＿＿＿＿＿＿＿＿，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3A4E"/>
                </a:solidFill>
                <a:latin typeface="Microsoft JhengHei"/>
                <a:ea typeface="Microsoft JhengHei"/>
              </a:rPr>
              <a:t>可能因為＿＿＿＿＿＿＿＿＿＿，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3A4E"/>
                </a:solidFill>
                <a:latin typeface="Microsoft JhengHei"/>
                <a:ea typeface="Microsoft JhengHei"/>
              </a:rPr>
              <a:t>下次我會試＿＿＿＿＿＿＿＿＿＿。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10881360" cy="12344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28C28"/>
                </a:solidFill>
                <a:latin typeface="Microsoft JhengHei"/>
                <a:ea typeface="Microsoft JhengHei"/>
              </a:rPr>
              <a:t>換成小一玩家：我會先檢查＿＿＿＿＿＿。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7A8C99"/>
                </a:solidFill>
                <a:latin typeface="Microsoft JhengHei"/>
                <a:ea typeface="Microsoft JhengHei"/>
              </a:rPr>
              <a:t>下堂預告：把問題變成設計挑戰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635508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7A8C99"/>
                </a:solidFill>
                <a:latin typeface="Microsoft JhengHei"/>
                <a:ea typeface="Microsoft JhengHei"/>
              </a:rPr>
              <a:t>AI 是小助手，學生才是設計師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